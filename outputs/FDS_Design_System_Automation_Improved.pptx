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ec24a6b1f451d" /><Relationship Type="http://schemas.openxmlformats.org/officeDocument/2006/relationships/extended-properties" Target="/docProps/app.xml" Id="R59d2e1d540e54b3f" /><Relationship Type="http://schemas.openxmlformats.org/officeDocument/2006/relationships/officeDocument" Target="/ppt/presentation.xml" Id="R9b5526a26fb749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825ca322774554"/>
  </p:sldMasterIdLst>
  <p:notesMasterIdLst>
    <p:notesMasterId xmlns:r="http://schemas.openxmlformats.org/officeDocument/2006/relationships" r:id="R434d385914784628"/>
  </p:notesMasterIdLst>
  <p:sldIdLst>
    <p:sldId xmlns:r="http://schemas.openxmlformats.org/officeDocument/2006/relationships" id="256" r:id="R6c7be75e22ff4ead"/>
    <p:sldId xmlns:r="http://schemas.openxmlformats.org/officeDocument/2006/relationships" id="257" r:id="R40ef05795c2c47a2"/>
    <p:sldId xmlns:r="http://schemas.openxmlformats.org/officeDocument/2006/relationships" id="258" r:id="R355e72f528c94e53"/>
    <p:sldId xmlns:r="http://schemas.openxmlformats.org/officeDocument/2006/relationships" id="259" r:id="R2f72085fe91a457b"/>
    <p:sldId xmlns:r="http://schemas.openxmlformats.org/officeDocument/2006/relationships" id="260" r:id="Ra647dbeee92e4cef"/>
    <p:sldId xmlns:r="http://schemas.openxmlformats.org/officeDocument/2006/relationships" id="261" r:id="Re8916dd756bd4768"/>
    <p:sldId xmlns:r="http://schemas.openxmlformats.org/officeDocument/2006/relationships" id="262" r:id="R6c75fcc5c77549c2"/>
    <p:sldId xmlns:r="http://schemas.openxmlformats.org/officeDocument/2006/relationships" id="263" r:id="Rcd8c3b7790554f26"/>
    <p:sldId xmlns:r="http://schemas.openxmlformats.org/officeDocument/2006/relationships" id="264" r:id="R00f15a56b9ec46ae"/>
    <p:sldId xmlns:r="http://schemas.openxmlformats.org/officeDocument/2006/relationships" id="265" r:id="R3f20c9d3dc74474d"/>
    <p:sldId xmlns:r="http://schemas.openxmlformats.org/officeDocument/2006/relationships" id="266" r:id="R8bd1f11cec664956"/>
    <p:sldId xmlns:r="http://schemas.openxmlformats.org/officeDocument/2006/relationships" id="267" r:id="R69894d6e01614ea5"/>
    <p:sldId xmlns:r="http://schemas.openxmlformats.org/officeDocument/2006/relationships" id="268" r:id="Rc0fe03ffaa5942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3c88fa8c894bca" /><Relationship Type="http://schemas.openxmlformats.org/officeDocument/2006/relationships/slideMaster" Target="/ppt/slideMasters/slideMaster1.xml" Id="R0d825ca322774554" /><Relationship Type="http://schemas.openxmlformats.org/officeDocument/2006/relationships/notesMaster" Target="/ppt/notesMasters/notesMaster1.xml" Id="R434d385914784628" /><Relationship Type="http://schemas.openxmlformats.org/officeDocument/2006/relationships/presProps" Target="/ppt/presProps.xml" Id="R1cf53c46bca141e7" /><Relationship Type="http://schemas.openxmlformats.org/officeDocument/2006/relationships/tableStyles" Target="/ppt/tableStyles.xml" Id="Rb57a5d368bc84ea8" /><Relationship Type="http://schemas.openxmlformats.org/officeDocument/2006/relationships/slide" Target="/ppt/slides/slide1.xml" Id="R6c7be75e22ff4ead" /><Relationship Type="http://schemas.openxmlformats.org/officeDocument/2006/relationships/slide" Target="/ppt/slides/slide2.xml" Id="R40ef05795c2c47a2" /><Relationship Type="http://schemas.openxmlformats.org/officeDocument/2006/relationships/slide" Target="/ppt/slides/slide3.xml" Id="R355e72f528c94e53" /><Relationship Type="http://schemas.openxmlformats.org/officeDocument/2006/relationships/slide" Target="/ppt/slides/slide4.xml" Id="R2f72085fe91a457b" /><Relationship Type="http://schemas.openxmlformats.org/officeDocument/2006/relationships/slide" Target="/ppt/slides/slide5.xml" Id="Ra647dbeee92e4cef" /><Relationship Type="http://schemas.openxmlformats.org/officeDocument/2006/relationships/slide" Target="/ppt/slides/slide6.xml" Id="Re8916dd756bd4768" /><Relationship Type="http://schemas.openxmlformats.org/officeDocument/2006/relationships/slide" Target="/ppt/slides/slide7.xml" Id="R6c75fcc5c77549c2" /><Relationship Type="http://schemas.openxmlformats.org/officeDocument/2006/relationships/slide" Target="/ppt/slides/slide8.xml" Id="Rcd8c3b7790554f26" /><Relationship Type="http://schemas.openxmlformats.org/officeDocument/2006/relationships/slide" Target="/ppt/slides/slide9.xml" Id="R00f15a56b9ec46ae" /><Relationship Type="http://schemas.openxmlformats.org/officeDocument/2006/relationships/slide" Target="/ppt/slides/slide10.xml" Id="R3f20c9d3dc74474d" /><Relationship Type="http://schemas.openxmlformats.org/officeDocument/2006/relationships/slide" Target="/ppt/slides/slide11.xml" Id="R8bd1f11cec664956" /><Relationship Type="http://schemas.openxmlformats.org/officeDocument/2006/relationships/slide" Target="/ppt/slides/slide12.xml" Id="R69894d6e01614ea5" /><Relationship Type="http://schemas.openxmlformats.org/officeDocument/2006/relationships/slide" Target="/ppt/slides/slide13.xml" Id="Rc0fe03ffaa5942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4c20a0158c42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13fd7ff7a744f2" /><Relationship Type="http://schemas.openxmlformats.org/officeDocument/2006/relationships/notesMaster" Target="/ppt/notesMasters/notesMaster1.xml" Id="Ra34c5728eaa14c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be1f04cd684714" /><Relationship Type="http://schemas.openxmlformats.org/officeDocument/2006/relationships/notesMaster" Target="/ppt/notesMasters/notesMaster1.xml" Id="Rdfc2f403dc364c8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5a1e5219694a1e" /><Relationship Type="http://schemas.openxmlformats.org/officeDocument/2006/relationships/notesMaster" Target="/ppt/notesMasters/notesMaster1.xml" Id="R2f0f2d58494147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09c3e8bf154c95" /><Relationship Type="http://schemas.openxmlformats.org/officeDocument/2006/relationships/notesMaster" Target="/ppt/notesMasters/notesMaster1.xml" Id="R59cfa3e7adfc4d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0548641d244f7a" /><Relationship Type="http://schemas.openxmlformats.org/officeDocument/2006/relationships/notesMaster" Target="/ppt/notesMasters/notesMaster1.xml" Id="R61ee4a94710142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8c75e4594541b3" /><Relationship Type="http://schemas.openxmlformats.org/officeDocument/2006/relationships/notesMaster" Target="/ppt/notesMasters/notesMaster1.xml" Id="Rf0d1eeb5706849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c95d8d31cb4c18" /><Relationship Type="http://schemas.openxmlformats.org/officeDocument/2006/relationships/notesMaster" Target="/ppt/notesMasters/notesMaster1.xml" Id="R6d443e7f97a446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ee1d602510487a" /><Relationship Type="http://schemas.openxmlformats.org/officeDocument/2006/relationships/notesMaster" Target="/ppt/notesMasters/notesMaster1.xml" Id="R6e04f58f81dd44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9ada22decc40d6" /><Relationship Type="http://schemas.openxmlformats.org/officeDocument/2006/relationships/notesMaster" Target="/ppt/notesMasters/notesMaster1.xml" Id="R9b89a10bf4834d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3a85ce59784759" /><Relationship Type="http://schemas.openxmlformats.org/officeDocument/2006/relationships/notesMaster" Target="/ppt/notesMasters/notesMaster1.xml" Id="Rbd42513a8a194a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d5b665042d4dc2" /><Relationship Type="http://schemas.openxmlformats.org/officeDocument/2006/relationships/notesMaster" Target="/ppt/notesMasters/notesMaster1.xml" Id="R6ff6d594953646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1fc24e2a5549f1" /><Relationship Type="http://schemas.openxmlformats.org/officeDocument/2006/relationships/notesMaster" Target="/ppt/notesMasters/notesMaster1.xml" Id="Rab5537e5579545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f96b351892481c" /><Relationship Type="http://schemas.openxmlformats.org/officeDocument/2006/relationships/notesMaster" Target="/ppt/notesMasters/notesMaster1.xml" Id="R0fa5eb09d3a948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f01055e04745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68369fc60847b5" /><Relationship Type="http://schemas.openxmlformats.org/officeDocument/2006/relationships/slideLayout" Target="/ppt/slideLayouts/slideLayout1.xml" Id="R7197c96da4694e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97c96da4694e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06096825d4693" /><Relationship Type="http://schemas.openxmlformats.org/officeDocument/2006/relationships/image" Target="/ppt/media/image.png" Id="R6266f9717afa4c71" /><Relationship Type="http://schemas.openxmlformats.org/officeDocument/2006/relationships/notesSlide" Target="/ppt/notesSlides/notesSlide1.xml" Id="R7d242804c9174b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07df9b2d348e8" /><Relationship Type="http://schemas.openxmlformats.org/officeDocument/2006/relationships/notesSlide" Target="/ppt/notesSlides/notesSlide2.xml" Id="R68204b87a9ac47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6f6b769984959" /><Relationship Type="http://schemas.openxmlformats.org/officeDocument/2006/relationships/notesSlide" Target="/ppt/notesSlides/notesSlide3.xml" Id="R9bf0306a279245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cc7e09cd842cf" /><Relationship Type="http://schemas.openxmlformats.org/officeDocument/2006/relationships/notesSlide" Target="/ppt/notesSlides/notesSlide4.xml" Id="R3d109d641d5846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881b6a19e4b84" /><Relationship Type="http://schemas.openxmlformats.org/officeDocument/2006/relationships/image" Target="/ppt/media/image2.png" Id="R856a1a958f424e77" /><Relationship Type="http://schemas.openxmlformats.org/officeDocument/2006/relationships/notesSlide" Target="/ppt/notesSlides/notesSlide5.xml" Id="R573ffda1419c43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b5245da2648b0" /><Relationship Type="http://schemas.openxmlformats.org/officeDocument/2006/relationships/image" Target="/ppt/media/image3.png" Id="Rd7e734cb575247ad" /><Relationship Type="http://schemas.openxmlformats.org/officeDocument/2006/relationships/image" Target="/ppt/media/image4.png" Id="R86e19d5ffd01422e" /><Relationship Type="http://schemas.openxmlformats.org/officeDocument/2006/relationships/notesSlide" Target="/ppt/notesSlides/notesSlide6.xml" Id="R9f45c875351941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02e5e0b3c454f" /><Relationship Type="http://schemas.openxmlformats.org/officeDocument/2006/relationships/notesSlide" Target="/ppt/notesSlides/notesSlide7.xml" Id="R738d690d4bfa49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78d3842654523" /><Relationship Type="http://schemas.openxmlformats.org/officeDocument/2006/relationships/image" Target="/ppt/media/image5.png" Id="R887ceab7c990454e" /><Relationship Type="http://schemas.openxmlformats.org/officeDocument/2006/relationships/notesSlide" Target="/ppt/notesSlides/notesSlide8.xml" Id="Rcd89af8cb65e44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2f2710e504098" /><Relationship Type="http://schemas.openxmlformats.org/officeDocument/2006/relationships/notesSlide" Target="/ppt/notesSlides/notesSlide9.xml" Id="R0db5f1095ee841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24ad387d54853" /><Relationship Type="http://schemas.openxmlformats.org/officeDocument/2006/relationships/notesSlide" Target="/ppt/notesSlides/notesSlide10.xml" Id="R6ec8000e545c44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66ebb9e844439" /><Relationship Type="http://schemas.openxmlformats.org/officeDocument/2006/relationships/notesSlide" Target="/ppt/notesSlides/notesSlide11.xml" Id="Rfd9bd4fd133349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024d2eeed4c19" /><Relationship Type="http://schemas.openxmlformats.org/officeDocument/2006/relationships/notesSlide" Target="/ppt/notesSlides/notesSlide12.xml" Id="R92d0825ba6f5469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7f9ed4499491f" /><Relationship Type="http://schemas.openxmlformats.org/officeDocument/2006/relationships/notesSlide" Target="/ppt/notesSlides/notesSlide13.xml" Id="Ra4a93e5e770f45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FADE4-28F4-4DC1-ABEB-C788A480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14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D37EA2-BCDC-4C96-A226-FE5B2CF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810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275" b="1">
                <a:solidFill>
                  <a:srgbClr val="252D38"/>
                </a:solidFill>
              </a:defRPr>
            </a:pPr>
            <a:r>
              <a:rPr sz="4275" b="1">
                <a:solidFill>
                  <a:srgbClr val="252D38"/>
                </a:solidFill>
              </a:rPr>
              <a:t>FDS 디자인 시스템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4275" b="1">
                <a:solidFill>
                  <a:srgbClr val="252D38"/>
                </a:solidFill>
              </a:defRPr>
            </a:pPr>
            <a:r>
              <a:rPr sz="4275" b="1">
                <a:solidFill>
                  <a:srgbClr val="252D38"/>
                </a:solidFill>
              </a:rPr>
              <a:t>준수 검수 자동화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84014B2-2DFD-4FB9-9DC7-BD98024A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5391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  <a:defRPr sz="1650">
                <a:solidFill>
                  <a:srgbClr val="717985"/>
                </a:solidFill>
              </a:defRPr>
            </a:pPr>
            <a:r>
              <a:rPr sz="1650">
                <a:solidFill>
                  <a:srgbClr val="717985"/>
                </a:solidFill>
              </a:rPr>
              <a:t>브라우저에서 화면을 읽고, FDS 기준과 비교해</a:t>
            </a:r>
          </a:p>
          <a:p xmlns:a="http://schemas.openxmlformats.org/drawingml/2006/main">
            <a:pPr>
              <a:lnSpc>
                <a:spcPct val="140000"/>
              </a:lnSpc>
              <a:buNone/>
              <a:defRPr sz="1650">
                <a:solidFill>
                  <a:srgbClr val="717985"/>
                </a:solidFill>
              </a:defRPr>
            </a:pPr>
            <a:r>
              <a:rPr sz="1650">
                <a:solidFill>
                  <a:srgbClr val="717985"/>
                </a:solidFill>
              </a:rPr>
              <a:t>위반 위치와 수정 근거를 연결하는 Chrome Extension</a:t>
            </a:r>
          </a:p>
        </p:txBody>
      </p:sp>
      <p:sp>
        <p:nvSpPr>
          <p:cNvPr id="4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26C34DB9-7230-4DF9-86F3-0E25DF65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4000"/>
              </a:lnSpc>
              <a:buNone/>
              <a:defRPr sz="1875" b="1">
                <a:solidFill>
                  <a:srgbClr val="1B64DA"/>
                </a:solidFill>
              </a:defRPr>
            </a:pPr>
            <a:r>
              <a:rPr sz="1875" b="1">
                <a:solidFill>
                  <a:srgbClr val="1B64DA"/>
                </a:solidFill>
              </a:rPr>
              <a:t>기준 비교는 자동화하고,</a:t>
            </a:r>
          </a:p>
          <a:p xmlns:a="http://schemas.openxmlformats.org/drawingml/2006/main">
            <a:pPr>
              <a:lnSpc>
                <a:spcPct val="124000"/>
              </a:lnSpc>
              <a:buNone/>
              <a:defRPr sz="1875" b="1">
                <a:solidFill>
                  <a:srgbClr val="1B64DA"/>
                </a:solidFill>
              </a:defRPr>
            </a:pPr>
            <a:r>
              <a:rPr sz="1875" b="1">
                <a:solidFill>
                  <a:srgbClr val="1B64DA"/>
                </a:solidFill>
              </a:rPr>
              <a:t>수정 판단은 더 빠르게.</a:t>
            </a:r>
          </a:p>
        </p:txBody>
      </p:sp>
      <p:sp>
        <p:nvSpPr>
          <p:cNvPr id="5" name="project-meta">
            <a:extLst xmlns:a="http://schemas.openxmlformats.org/drawingml/2006/main">
              <a:ext uri="{FF2B5EF4-FFF2-40B4-BE49-F238E27FC236}">
                <a16:creationId xmlns:a16="http://schemas.microsoft.com/office/drawing/2014/main" id="{D756EE26-8D30-4B4A-A4C1-1448BBD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7985"/>
                </a:solidFill>
              </a:defRPr>
            </a:pPr>
            <a:r>
              <a:rPr sz="1050">
                <a:solidFill>
                  <a:srgbClr val="717985"/>
                </a:solidFill>
              </a:rPr>
              <a:t>ID : 2529  |  과제 등록일 : 2026.07.02  |  참여자 : 김태경 수석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B307C-5F86-47F8-B38A-278A644B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838200"/>
            <a:ext cx="2905125" cy="4876800"/>
          </a:xfrm>
          <a:prstGeom xmlns:a="http://schemas.openxmlformats.org/drawingml/2006/main" prst="roundRect">
            <a:avLst>
              <a:gd name="adj" fmla="val 524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6f9717afa4c71"/>
          <a:srcRect xmlns:a="http://schemas.openxmlformats.org/drawingml/2006/main" l="70" t="0" r="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838200"/>
            <a:ext cx="2905125" cy="4876800"/>
          </a:xfrm>
          <a:prstGeom xmlns:a="http://schemas.openxmlformats.org/drawingml/2006/main" prst="roundRect">
            <a:avLst>
              <a:gd name="adj" fmla="val 5246"/>
            </a:avLst>
          </a:prstGeom>
        </p:spPr>
      </p:pic>
      <p:sp>
        <p:nvSpPr>
          <p:cNvPr id="8" name="capture-label">
            <a:extLst xmlns:a="http://schemas.openxmlformats.org/drawingml/2006/main">
              <a:ext uri="{FF2B5EF4-FFF2-40B4-BE49-F238E27FC236}">
                <a16:creationId xmlns:a16="http://schemas.microsoft.com/office/drawing/2014/main" id="{BD17BA55-D79E-42AC-A358-EEF17A1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29250"/>
            <a:ext cx="209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FFFFFF"/>
                </a:solidFill>
              </a:defRPr>
            </a:pPr>
            <a:r>
              <a:rPr sz="825">
                <a:solidFill>
                  <a:srgbClr val="FFFFFF"/>
                </a:solidFill>
              </a:rPr>
              <a:t>실제 FDS Inspector 패널</a:t>
            </a:r>
          </a:p>
        </p:txBody>
      </p:sp>
    </p:spTree>
    <p:extLst>
      <p:ext uri="{BB962C8B-B14F-4D97-AF65-F5344CB8AC3E}">
        <p14:creationId xmlns:p14="http://schemas.microsoft.com/office/powerpoint/2010/main" val="1716263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AFBE58-1136-4484-994B-FBD704A0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9BBBB57-1E21-4F03-B893-192F3D71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문제 정의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358E31-F2EE-47B5-9F5F-20CF1E27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02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943B8E-15D0-4F7D-AD4B-2B4F0D09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검수의 병목은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비교 자체가 아닙니다.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7379A0A-9CB9-470E-9A4F-C49C274E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위반을 발견한 뒤, 수정할 실제 화면 요소를 다시 찾는 과정이 반복됩니다.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663E7-F2C6-4954-8F63-A14FD59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6670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FF5AC-245D-4A4D-BCF6-E723E4A8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64DA"/>
                </a:solidFill>
              </a:defRPr>
            </a:pPr>
            <a:r>
              <a:rPr sz="975" b="1">
                <a:solidFill>
                  <a:srgbClr val="1B64D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F5CBF-5C25-4D1D-8439-6DA4CED7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2D38"/>
                </a:solidFill>
              </a:defRPr>
            </a:pPr>
            <a:r>
              <a:rPr sz="1800" b="1">
                <a:solidFill>
                  <a:srgbClr val="252D38"/>
                </a:solidFill>
              </a:rPr>
              <a:t>문서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8E691-6C1E-4424-A619-C2FEC15A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토큰·컴포넌트 기준을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C50BFD-8B7F-46A1-B0F9-395B4E77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952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B64DA"/>
                </a:solidFill>
              </a:defRPr>
            </a:pPr>
            <a:r>
              <a:rPr sz="1800">
                <a:solidFill>
                  <a:srgbClr val="1B64D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EB7873-E4FD-48E4-AE31-AE62AD51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333750"/>
            <a:ext cx="26670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272E5-4962-4AED-9902-952E671A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64DA"/>
                </a:solidFill>
              </a:defRPr>
            </a:pPr>
            <a:r>
              <a:rPr sz="975" b="1">
                <a:solidFill>
                  <a:srgbClr val="1B64D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F22146-1766-4AEC-8340-64951B97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9052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2D38"/>
                </a:solidFill>
              </a:defRPr>
            </a:pPr>
            <a:r>
              <a:rPr sz="1800" b="1">
                <a:solidFill>
                  <a:srgbClr val="252D38"/>
                </a:solidFill>
              </a:rPr>
              <a:t>화면 대조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62E591-7D27-4D03-A0EE-4549AEEC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324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현재 속성값과 기준을 비교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140CDA-163B-4E2B-9913-78A26782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52875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B64DA"/>
                </a:solidFill>
              </a:defRPr>
            </a:pPr>
            <a:r>
              <a:rPr sz="1800">
                <a:solidFill>
                  <a:srgbClr val="1B64DA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F3188-0DEB-4403-9911-FC709B01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33750"/>
            <a:ext cx="2667000" cy="163830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9525">
            <a:solidFill>
              <a:srgbClr val="D9E6F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A607A8-7E35-4E5F-BDD7-DF0E096B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623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64DA"/>
                </a:solidFill>
              </a:defRPr>
            </a:pPr>
            <a:r>
              <a:rPr sz="975" b="1">
                <a:solidFill>
                  <a:srgbClr val="1B64D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036C91-A89F-4246-8044-EDB82FCC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052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52D38"/>
                </a:solidFill>
              </a:defRPr>
            </a:pPr>
            <a:r>
              <a:rPr sz="1800" b="1">
                <a:solidFill>
                  <a:srgbClr val="252D38"/>
                </a:solidFill>
              </a:rPr>
              <a:t>위치 재탐색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BA6E4-586D-46D1-A79B-0FD50BF0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24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위반 결과를 실제 요소로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5E11B-CEF2-4B69-9D63-B26B57FB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2D38"/>
                </a:solidFill>
              </a:defRPr>
            </a:pPr>
            <a:r>
              <a:rPr sz="1725" b="1">
                <a:solidFill>
                  <a:srgbClr val="252D38"/>
                </a:solidFill>
              </a:rPr>
              <a:t>핵심 문제: 결과 목록만으로는 수정할 화면 위치가 바로 보이지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7891728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D48A69-A5E2-4735-BC71-A7CBA726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8674C883-C3FB-49E9-B438-34F3EA4B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주요 용어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2E04EFD-9377-4A34-995B-F7A09763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03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E2BBEF-C2F5-4BDF-8AB0-FE4E37A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FDS Inspector는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“기준”과 “화면”을 연결합니다.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FB6AB77-B609-44DE-9288-20AEFFB2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디자인 시스템 준수 여부를 현재 브라우저 화면에서 확인하는 검사 도구입니다.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0D9A7-21B5-436A-AE06-F4FDF944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9530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7048C-6391-4CE3-8C60-2880BA2E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6573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34EC42-F36C-4D50-B2AF-0A7D04C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B64DA"/>
                </a:solidFill>
              </a:defRPr>
            </a:pPr>
            <a:r>
              <a:rPr sz="1800" b="1">
                <a:solidFill>
                  <a:srgbClr val="1B64DA"/>
                </a:solidFill>
              </a:rPr>
              <a:t>FDS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4E80C-A4AC-456C-8E82-41B511C3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웹 화면 구현의 기준이 되는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디자인 시스템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47DFA-647C-4EB2-AC1C-9EDECB51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62300"/>
            <a:ext cx="49530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2E6F1-FE8A-42DD-9334-2842DF8F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16573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F02BB4-85B6-4FF1-80B1-61847C97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1470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B64DA"/>
                </a:solidFill>
              </a:defRPr>
            </a:pPr>
            <a:r>
              <a:rPr sz="1800" b="1">
                <a:solidFill>
                  <a:srgbClr val="1B64DA"/>
                </a:solidFill>
              </a:rPr>
              <a:t>디자인 토큰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69C6C-9817-4F49-89CA-36A4BA5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컬러·폰트·간격·라운드 등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재사용 가능한 UI 속성값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ED2F4-7D07-4BEC-BB00-C259E844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49530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B95EE-A754-4EF3-A4F8-1F1F1770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6573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7CF6E-3340-41CA-9C03-0FAB898B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B64DA"/>
                </a:solidFill>
              </a:defRPr>
            </a:pPr>
            <a:r>
              <a:rPr sz="1800" b="1">
                <a:solidFill>
                  <a:srgbClr val="1B64DA"/>
                </a:solidFill>
              </a:rPr>
              <a:t>위반 요소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489D3-7D27-4202-821C-0065AADB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76250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FDS 기준과 다른 값이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적용된 DOM 요소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2A74A-53E8-4E3F-ADF2-60AFFB43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91050"/>
            <a:ext cx="49530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7B607-669D-4D80-A32E-F7AC7420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16573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F43080-F4CF-4A45-974A-EB16E396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4345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B64DA"/>
                </a:solidFill>
              </a:defRPr>
            </a:pPr>
            <a:r>
              <a:rPr sz="1350" b="1">
                <a:solidFill>
                  <a:srgbClr val="1B64DA"/>
                </a:solidFill>
              </a:rPr>
              <a:t>FDS Inspector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DAF6E4-4A75-4D3F-A1FA-4053B274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6250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위반 요소를 찾아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현재 화면에서 확인하는 확장 프로그램</a:t>
            </a:r>
          </a:p>
        </p:txBody>
      </p:sp>
    </p:spTree>
    <p:extLst>
      <p:ext uri="{BB962C8B-B14F-4D97-AF65-F5344CB8AC3E}">
        <p14:creationId xmlns:p14="http://schemas.microsoft.com/office/powerpoint/2010/main" val="142513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30D10-48F8-4F61-946E-EE598FAD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AEF1929-9767-4593-95DF-01EE4944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해결 방법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2E9BBC2-38D4-494A-8448-5311901A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04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6243F4-77E6-4A2F-9F05-6B50AAE4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위반을 찾는 데서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끝나지 않도록 설계했습니다.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A90E04D-0B24-4147-B3BF-BEB01A8D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수동 검수의 병목인 “위치 재탐색”을 줄이는 데 초점을 맞췄습니다.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96C9B-0EF6-444C-8F92-E4E2999D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200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9525">
            <a:solidFill>
              <a:srgbClr val="D9E6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91780-1440-4AAE-B4BF-7122FEB1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64DA"/>
                </a:solidFill>
              </a:defRPr>
            </a:pPr>
            <a:r>
              <a:rPr sz="1050" b="1">
                <a:solidFill>
                  <a:srgbClr val="1B64DA"/>
                </a:solidFill>
              </a:rPr>
              <a:t>01  문제 해결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917F1-4FD2-492D-AB6A-737DCD16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2D38"/>
                </a:solidFill>
              </a:defRPr>
            </a:pPr>
            <a:r>
              <a:rPr sz="1725" b="1">
                <a:solidFill>
                  <a:srgbClr val="252D38"/>
                </a:solidFill>
              </a:rPr>
              <a:t>결과를 실제 DOM에 연결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E7055-3021-4EC5-90FA-696BEC57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결과 항목을 선택하면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해당 요소를 강조하고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수정 근거를 바로 보여줍니다.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331B9-E111-40C0-BA24-439DF2F5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200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4BBF1-EF29-4591-8CE4-98BCBC8F3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24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64DA"/>
                </a:solidFill>
              </a:defRPr>
            </a:pPr>
            <a:r>
              <a:rPr sz="1050" b="1">
                <a:solidFill>
                  <a:srgbClr val="1B64DA"/>
                </a:solidFill>
              </a:rPr>
              <a:t>02  아이디어 도출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02A69B-27D1-4A5B-AEC4-2AEA3CF7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2D38"/>
                </a:solidFill>
              </a:defRPr>
            </a:pPr>
            <a:r>
              <a:rPr sz="1725" b="1">
                <a:solidFill>
                  <a:srgbClr val="252D38"/>
                </a:solidFill>
              </a:rPr>
              <a:t>수동 검수 흐름을 분해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9B16EA-D7B1-4BAB-A822-B8473067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862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문서와 화면을 오가는 과정에서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비교보다 “위치 재탐색”이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더 큰 병목임을 확인했습니다.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DDF20-DE2D-40C8-8404-D2152726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2004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38A36-37A4-49E0-A75B-962717AB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64DA"/>
                </a:solidFill>
              </a:defRPr>
            </a:pPr>
            <a:r>
              <a:rPr sz="1050" b="1">
                <a:solidFill>
                  <a:srgbClr val="1B64DA"/>
                </a:solidFill>
              </a:rPr>
              <a:t>03  어려움과 극복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13A52-45F2-4DBF-B727-9ACEC34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52D38"/>
                </a:solidFill>
              </a:defRPr>
            </a:pPr>
            <a:r>
              <a:rPr sz="1725" b="1">
                <a:solidFill>
                  <a:srgbClr val="252D38"/>
                </a:solidFill>
              </a:rPr>
              <a:t>화면마다 다른 위치·겹침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D7F7D-CF02-4BD8-ABDA-81BF78EB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대상 옆에 패널을 배치하되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화면 밖으로 나가지 않고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200">
                <a:solidFill>
                  <a:srgbClr val="717985"/>
                </a:solidFill>
              </a:defRPr>
            </a:pPr>
            <a:r>
              <a:rPr sz="1200">
                <a:solidFill>
                  <a:srgbClr val="717985"/>
                </a:solidFill>
              </a:rPr>
              <a:t>대상과 겹치지 않게 했습니다.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C8382-AE08-4E27-B235-06932A54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B64DA"/>
                </a:solidFill>
              </a:defRPr>
            </a:pPr>
            <a:r>
              <a:rPr sz="1650" b="1">
                <a:solidFill>
                  <a:srgbClr val="1B64DA"/>
                </a:solidFill>
              </a:rPr>
              <a:t>결과 목록  →  실제 DOM 강조  →  위반 사유·대체 토큰 확인</a:t>
            </a:r>
          </a:p>
        </p:txBody>
      </p:sp>
    </p:spTree>
    <p:extLst>
      <p:ext uri="{BB962C8B-B14F-4D97-AF65-F5344CB8AC3E}">
        <p14:creationId xmlns:p14="http://schemas.microsoft.com/office/powerpoint/2010/main" val="20372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2897B-1872-47BF-82FC-BF03DABA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A4A5A4B3-B34C-42E7-B908-ACE2D48E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실제 검사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A62E22C-3DA0-46CE-B1BF-E965F9ED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05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73120B-D356-4EE2-8EAC-BADC69FD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결과를 클릭하면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해당 DOM이 바로 강조됩니다.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3E50F32-86EC-4BDD-9D36-C5B6D5BE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검사 결과를 다시 해석하지 않고, 수정할 요소를 실제 업무 화면에서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C6C0D-9DE0-494C-B708-9BDA16F7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3429000" cy="1743075"/>
          </a:xfrm>
          <a:prstGeom xmlns:a="http://schemas.openxmlformats.org/drawingml/2006/main" prst="roundRect">
            <a:avLst>
              <a:gd name="adj" fmla="val 87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a1a958f424e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3371850"/>
            <a:ext cx="3429000" cy="1743075"/>
          </a:xfrm>
          <a:prstGeom xmlns:a="http://schemas.openxmlformats.org/drawingml/2006/main" prst="roundRect">
            <a:avLst>
              <a:gd name="adj" fmla="val 874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79C64-3EBD-4B22-9AAC-86B4B1C1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FE5B9-504E-4A61-9945-5771F69C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1028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B64DA"/>
                </a:solidFill>
              </a:defRPr>
            </a:pPr>
            <a:r>
              <a:rPr sz="825" b="1">
                <a:solidFill>
                  <a:srgbClr val="1B64DA"/>
                </a:solidFill>
              </a:rPr>
              <a:t>ACTUAL PAGE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1900F-5CA7-4EE6-B75E-13816297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2D38"/>
                </a:solidFill>
              </a:defRPr>
            </a:pPr>
            <a:r>
              <a:rPr sz="2025" b="1">
                <a:solidFill>
                  <a:srgbClr val="252D38"/>
                </a:solidFill>
              </a:rPr>
              <a:t>결과 항목 클릭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0645B-7FAE-42F0-9B2F-713AE833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B64DA"/>
                </a:solidFill>
              </a:defRPr>
            </a:pPr>
            <a:r>
              <a:rPr sz="1800">
                <a:solidFill>
                  <a:srgbClr val="1B64DA"/>
                </a:solidFill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4461E-E33F-405A-9B9D-6081CD75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2D38"/>
                </a:solidFill>
              </a:defRPr>
            </a:pPr>
            <a:r>
              <a:rPr sz="2025" b="1">
                <a:solidFill>
                  <a:srgbClr val="252D38"/>
                </a:solidFill>
              </a:rPr>
              <a:t>위반 요소 강조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9F166-9561-4623-8A34-D583014B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425">
                <a:solidFill>
                  <a:srgbClr val="717985"/>
                </a:solidFill>
              </a:defRPr>
            </a:pPr>
            <a:r>
              <a:rPr sz="1425">
                <a:solidFill>
                  <a:srgbClr val="717985"/>
                </a:solidFill>
              </a:rPr>
              <a:t>목록의 결과가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425">
                <a:solidFill>
                  <a:srgbClr val="717985"/>
                </a:solidFill>
              </a:defRPr>
            </a:pPr>
            <a:r>
              <a:rPr sz="1425">
                <a:solidFill>
                  <a:srgbClr val="717985"/>
                </a:solidFill>
              </a:rPr>
              <a:t>곧 수정할 실제 화면 위치가 됩니다.</a:t>
            </a:r>
          </a:p>
        </p:txBody>
      </p:sp>
    </p:spTree>
    <p:extLst>
      <p:ext uri="{BB962C8B-B14F-4D97-AF65-F5344CB8AC3E}">
        <p14:creationId xmlns:p14="http://schemas.microsoft.com/office/powerpoint/2010/main" val="4004773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E341F-DD61-4B5E-98F2-35B072FE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069203B-6E0B-4EF7-84F6-218E6DD2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실제 검사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71463C-B299-4525-8C62-B76169E0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06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ED7B88-2B5A-41A5-86B5-4AD41930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Inspector는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위반 사유까지 설명합니다.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79985A7-D71A-49B7-90C1-DAB5DFA5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현재 적용값, 위반 사유, 대체 토큰 후보를 같은 맥락에서 확인합니다.</a:t>
            </a:r>
          </a:p>
        </p:txBody>
      </p:sp>
      <p:sp>
        <p:nvSpPr>
          <p:cNvPr id="6" name="highlighted-dom-label">
            <a:extLst xmlns:a="http://schemas.openxmlformats.org/drawingml/2006/main">
              <a:ext uri="{FF2B5EF4-FFF2-40B4-BE49-F238E27FC236}">
                <a16:creationId xmlns:a16="http://schemas.microsoft.com/office/drawing/2014/main" id="{84660BA1-DAA9-4716-AB02-CCE453D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813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강조된 DOM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FB29F-0CC6-4F8F-B275-C92FE796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29000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734cb575247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3429000"/>
            <a:ext cx="1619250" cy="16192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9" name="highlighted-dom-caption">
            <a:extLst xmlns:a="http://schemas.openxmlformats.org/drawingml/2006/main">
              <a:ext uri="{FF2B5EF4-FFF2-40B4-BE49-F238E27FC236}">
                <a16:creationId xmlns:a16="http://schemas.microsoft.com/office/drawing/2014/main" id="{B42AC137-802C-4836-858F-39F14F0A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244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7985"/>
                </a:solidFill>
              </a:defRPr>
            </a:pPr>
            <a:r>
              <a:rPr sz="900">
                <a:solidFill>
                  <a:srgbClr val="717985"/>
                </a:solidFill>
              </a:rPr>
              <a:t>실제 업무 화면의 위반 요소</a:t>
            </a:r>
          </a:p>
        </p:txBody>
      </p:sp>
      <p:sp>
        <p:nvSpPr>
          <p:cNvPr id="10" name="inspector-modal-label">
            <a:extLst xmlns:a="http://schemas.openxmlformats.org/drawingml/2006/main">
              <a:ext uri="{FF2B5EF4-FFF2-40B4-BE49-F238E27FC236}">
                <a16:creationId xmlns:a16="http://schemas.microsoft.com/office/drawing/2014/main" id="{E958DD28-C2D1-41F7-80AB-CCD327A4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FDS Inspector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C4EE9-7FF6-4412-BEED-16F85147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29000"/>
            <a:ext cx="3429000" cy="1743075"/>
          </a:xfrm>
          <a:prstGeom xmlns:a="http://schemas.openxmlformats.org/drawingml/2006/main" prst="roundRect">
            <a:avLst>
              <a:gd name="adj" fmla="val 874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19d5ffd0142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3429000"/>
            <a:ext cx="3429000" cy="1743075"/>
          </a:xfrm>
          <a:prstGeom xmlns:a="http://schemas.openxmlformats.org/drawingml/2006/main" prst="roundRect">
            <a:avLst>
              <a:gd name="adj" fmla="val 8743"/>
            </a:avLst>
          </a:prstGeom>
        </p:spPr>
      </p:pic>
      <p:sp>
        <p:nvSpPr>
          <p:cNvPr id="13" name="inspector-modal-caption">
            <a:extLst xmlns:a="http://schemas.openxmlformats.org/drawingml/2006/main">
              <a:ext uri="{FF2B5EF4-FFF2-40B4-BE49-F238E27FC236}">
                <a16:creationId xmlns:a16="http://schemas.microsoft.com/office/drawing/2014/main" id="{498F1A12-AF14-4F57-8CB4-2EFF926C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05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17985"/>
                </a:solidFill>
              </a:defRPr>
            </a:pPr>
            <a:r>
              <a:rPr sz="900">
                <a:solidFill>
                  <a:srgbClr val="717985"/>
                </a:solidFill>
              </a:rPr>
              <a:t>위반 사유와 대체 토큰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E35A74-8D93-45DE-97CD-1314A02C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64DA"/>
                </a:solidFill>
              </a:defRPr>
            </a:pPr>
            <a:r>
              <a:rPr sz="975" b="1">
                <a:solidFill>
                  <a:srgbClr val="1B64DA"/>
                </a:solidFill>
              </a:rPr>
              <a:t>현재 적용값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DDC51-AD52-4E5B-ADB5-6F8C2A7E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2D38"/>
                </a:solidFill>
              </a:defRPr>
            </a:pPr>
            <a:r>
              <a:rPr sz="1575" b="1">
                <a:solidFill>
                  <a:srgbClr val="252D38"/>
                </a:solidFill>
              </a:rPr>
              <a:t>라운드 8px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5F915B-0CF6-412A-ACC4-578A47EB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0FEE1-8DB7-4198-87D2-DAF0E979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64DA"/>
                </a:solidFill>
              </a:defRPr>
            </a:pPr>
            <a:r>
              <a:rPr sz="975" b="1">
                <a:solidFill>
                  <a:srgbClr val="1B64DA"/>
                </a:solidFill>
              </a:rPr>
              <a:t>위반 사유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22DBC-3C66-47E6-90B8-270515A1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52D38"/>
                </a:solidFill>
              </a:defRPr>
            </a:pPr>
            <a:r>
              <a:rPr sz="1575" b="1">
                <a:solidFill>
                  <a:srgbClr val="252D38"/>
                </a:solidFill>
              </a:rPr>
              <a:t>원시값 직접 사용: radius.8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DCC9F8-E74A-4E2D-82E2-A0E9FFFE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B309B-7BA8-4049-A25F-4182D105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B64DA"/>
                </a:solidFill>
              </a:defRPr>
            </a:pPr>
            <a:r>
              <a:rPr sz="975" b="1">
                <a:solidFill>
                  <a:srgbClr val="1B64DA"/>
                </a:solidFill>
              </a:rPr>
              <a:t>대체 토큰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5A641-3803-4CCB-98D0-186DC410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B64DA"/>
                </a:solidFill>
              </a:defRPr>
            </a:pPr>
            <a:r>
              <a:rPr sz="1575" b="1">
                <a:solidFill>
                  <a:srgbClr val="1B64DA"/>
                </a:solidFill>
              </a:rPr>
              <a:t>radius.8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C68FF-3D81-489B-A30D-FF1A457E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425">
                <a:solidFill>
                  <a:srgbClr val="717985"/>
                </a:solidFill>
              </a:defRPr>
            </a:pPr>
            <a:r>
              <a:rPr sz="1425">
                <a:solidFill>
                  <a:srgbClr val="717985"/>
                </a:solidFill>
              </a:rPr>
              <a:t>실제 Inspector 패널에서</a:t>
            </a:r>
          </a:p>
          <a:p xmlns:a="http://schemas.openxmlformats.org/drawingml/2006/main">
            <a:pPr>
              <a:lnSpc>
                <a:spcPct val="135000"/>
              </a:lnSpc>
              <a:buNone/>
              <a:defRPr sz="1425">
                <a:solidFill>
                  <a:srgbClr val="717985"/>
                </a:solidFill>
              </a:defRPr>
            </a:pPr>
            <a:r>
              <a:rPr sz="1425">
                <a:solidFill>
                  <a:srgbClr val="717985"/>
                </a:solidFill>
              </a:rPr>
              <a:t>위반 사유와 대체 토큰을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98793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2FA97-101F-42DA-A05F-ED87956B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525E4DE-D553-4023-B95D-C5247EE72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검증 결과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8DB615-19C0-4A88-81C6-896D86E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07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DD6AF5-9402-4094-9978-66366719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대규모 화면에서도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검사 범위를 투명하게 고지합니다.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A528D03C-FB10-4EC2-AF48-7ACE784E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성능 숫자는 “얼마나 검사했는지”와 함께 제시해야 의미가 분명해집니다.</a:t>
            </a:r>
          </a:p>
        </p:txBody>
      </p:sp>
      <p:sp>
        <p:nvSpPr>
          <p:cNvPr id="6" name="metric">
            <a:extLst xmlns:a="http://schemas.openxmlformats.org/drawingml/2006/main">
              <a:ext uri="{FF2B5EF4-FFF2-40B4-BE49-F238E27FC236}">
                <a16:creationId xmlns:a16="http://schemas.microsoft.com/office/drawing/2014/main" id="{1BF1A757-5CF8-4992-A793-759B8D7D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250" b="1">
                <a:solidFill>
                  <a:srgbClr val="1B64DA"/>
                </a:solidFill>
              </a:defRPr>
            </a:pPr>
            <a:r>
              <a:rPr sz="5250" b="1">
                <a:solidFill>
                  <a:srgbClr val="1B64DA"/>
                </a:solidFill>
              </a:rPr>
              <a:t>6,000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8EEFE818-24DD-4A17-B741-F3CDF8C7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252D38"/>
                </a:solidFill>
              </a:defRPr>
            </a:pPr>
            <a:r>
              <a:rPr sz="1725" b="1">
                <a:solidFill>
                  <a:srgbClr val="252D38"/>
                </a:solidFill>
              </a:rPr>
              <a:t>최대 DOM 요소 배치 검사</a:t>
            </a:r>
          </a:p>
        </p:txBody>
      </p:sp>
      <p:sp>
        <p:nvSpPr>
          <p:cNvPr id="8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589B4915-1B66-45D7-B9FB-9BF480DA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전체 7,502개 중 최대 6,000개 검사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69CFD-DA31-4446-8A24-B1A5F72F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71850"/>
            <a:ext cx="9525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">
            <a:extLst xmlns:a="http://schemas.openxmlformats.org/drawingml/2006/main">
              <a:ext uri="{FF2B5EF4-FFF2-40B4-BE49-F238E27FC236}">
                <a16:creationId xmlns:a16="http://schemas.microsoft.com/office/drawing/2014/main" id="{32437B35-E36F-4643-B339-A90EB941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5250" b="1">
                <a:solidFill>
                  <a:srgbClr val="1B64DA"/>
                </a:solidFill>
              </a:defRPr>
            </a:pPr>
            <a:r>
              <a:rPr sz="5250" b="1">
                <a:solidFill>
                  <a:srgbClr val="1B64DA"/>
                </a:solidFill>
              </a:rPr>
              <a:t>2.0초</a:t>
            </a:r>
          </a:p>
        </p:txBody>
      </p:sp>
      <p:sp>
        <p:nvSpPr>
          <p:cNvPr id="11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20A4C44E-A079-4AD2-9270-B67B85DF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43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725" b="1">
                <a:solidFill>
                  <a:srgbClr val="252D38"/>
                </a:solidFill>
              </a:defRPr>
            </a:pPr>
            <a:r>
              <a:rPr sz="1725" b="1">
                <a:solidFill>
                  <a:srgbClr val="252D38"/>
                </a:solidFill>
              </a:rPr>
              <a:t>해당 배치의 검사 완료 시간</a:t>
            </a:r>
          </a:p>
        </p:txBody>
      </p:sp>
      <p:sp>
        <p:nvSpPr>
          <p:cNvPr id="12" name="metric-detail">
            <a:extLst xmlns:a="http://schemas.openxmlformats.org/drawingml/2006/main">
              <a:ext uri="{FF2B5EF4-FFF2-40B4-BE49-F238E27FC236}">
                <a16:creationId xmlns:a16="http://schemas.microsoft.com/office/drawing/2014/main" id="{C098046E-BB95-409A-B4D6-1473390F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배치 처리 기준. 전체 화면을 모두 검사한 시간은 아님.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19E67-4599-4C93-A228-C088A32E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17985"/>
                </a:solidFill>
              </a:defRPr>
            </a:pPr>
            <a:r>
              <a:rPr sz="1050">
                <a:solidFill>
                  <a:srgbClr val="717985"/>
                </a:solidFill>
              </a:rPr>
              <a:t>측정 범위  ·  대형 DOM 검증 화면  ·  일부 검사 여부를 결과 패널에 함께 표시</a:t>
            </a:r>
          </a:p>
        </p:txBody>
      </p:sp>
    </p:spTree>
    <p:extLst>
      <p:ext uri="{BB962C8B-B14F-4D97-AF65-F5344CB8AC3E}">
        <p14:creationId xmlns:p14="http://schemas.microsoft.com/office/powerpoint/2010/main" val="273199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158F50-EC38-497B-ACA2-BC107A2B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4D1361C-791E-43AE-962B-658E1908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검증 결과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DBCA859-F684-4587-906C-CE328A5F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08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5FE49C-BAAF-41A6-94E7-2605699B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실제 LUKE 업무 화면에서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검사 흐름을 검증했습니다.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51BA4A0F-305B-4C5B-9FB6-0F6EEBA0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성능은 화면 규모와 정밀 검사 범위를 함께 읽어야 합니다.</a:t>
            </a:r>
          </a:p>
        </p:txBody>
      </p:sp>
      <p:sp>
        <p:nvSpPr>
          <p:cNvPr id="6" name="luke-inspected">
            <a:extLst xmlns:a="http://schemas.openxmlformats.org/drawingml/2006/main">
              <a:ext uri="{FF2B5EF4-FFF2-40B4-BE49-F238E27FC236}">
                <a16:creationId xmlns:a16="http://schemas.microsoft.com/office/drawing/2014/main" id="{3EC32153-C7F8-4B00-BC0C-9EA4D266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276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900" b="1">
                <a:solidFill>
                  <a:srgbClr val="1B64DA"/>
                </a:solidFill>
              </a:defRPr>
            </a:pPr>
            <a:r>
              <a:rPr sz="3900" b="1">
                <a:solidFill>
                  <a:srgbClr val="1B64DA"/>
                </a:solidFill>
              </a:rPr>
              <a:t>439 / 806</a:t>
            </a:r>
          </a:p>
        </p:txBody>
      </p:sp>
      <p:sp>
        <p:nvSpPr>
          <p:cNvPr id="7" name="luke-inspected-label">
            <a:extLst xmlns:a="http://schemas.openxmlformats.org/drawingml/2006/main">
              <a:ext uri="{FF2B5EF4-FFF2-40B4-BE49-F238E27FC236}">
                <a16:creationId xmlns:a16="http://schemas.microsoft.com/office/drawing/2014/main" id="{60593853-ED28-47FA-8DF7-62180D36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2D38"/>
                </a:solidFill>
              </a:defRPr>
            </a:pPr>
            <a:r>
              <a:rPr sz="1650" b="1">
                <a:solidFill>
                  <a:srgbClr val="252D38"/>
                </a:solidFill>
              </a:rPr>
              <a:t>정밀 검사 완료 요소</a:t>
            </a:r>
          </a:p>
        </p:txBody>
      </p:sp>
      <p:sp>
        <p:nvSpPr>
          <p:cNvPr id="8" name="luke-inspected-detail">
            <a:extLst xmlns:a="http://schemas.openxmlformats.org/drawingml/2006/main">
              <a:ext uri="{FF2B5EF4-FFF2-40B4-BE49-F238E27FC236}">
                <a16:creationId xmlns:a16="http://schemas.microsoft.com/office/drawing/2014/main" id="{0549D82B-3486-40D7-AE16-C5E32F4A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LUKE 메인 업무 화면 기준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79FED-1C9C-445A-B94A-E30EC543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0450"/>
            <a:ext cx="95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uke-duration">
            <a:extLst xmlns:a="http://schemas.openxmlformats.org/drawingml/2006/main">
              <a:ext uri="{FF2B5EF4-FFF2-40B4-BE49-F238E27FC236}">
                <a16:creationId xmlns:a16="http://schemas.microsoft.com/office/drawing/2014/main" id="{7EBD8C39-F436-4A00-93CE-8C0F6343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71875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3900" b="1">
                <a:solidFill>
                  <a:srgbClr val="1B64DA"/>
                </a:solidFill>
              </a:defRPr>
            </a:pPr>
            <a:r>
              <a:rPr sz="3900" b="1">
                <a:solidFill>
                  <a:srgbClr val="1B64DA"/>
                </a:solidFill>
              </a:rPr>
              <a:t>13.0초</a:t>
            </a:r>
          </a:p>
        </p:txBody>
      </p:sp>
      <p:sp>
        <p:nvSpPr>
          <p:cNvPr id="11" name="luke-duration-label">
            <a:extLst xmlns:a="http://schemas.openxmlformats.org/drawingml/2006/main">
              <a:ext uri="{FF2B5EF4-FFF2-40B4-BE49-F238E27FC236}">
                <a16:creationId xmlns:a16="http://schemas.microsoft.com/office/drawing/2014/main" id="{2249C191-28AB-4764-BC04-C15CE26A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434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52D38"/>
                </a:solidFill>
              </a:defRPr>
            </a:pPr>
            <a:r>
              <a:rPr sz="1500" b="1">
                <a:solidFill>
                  <a:srgbClr val="252D38"/>
                </a:solidFill>
              </a:rPr>
              <a:t>LUKE 업무 화면 검사 시간</a:t>
            </a:r>
          </a:p>
        </p:txBody>
      </p:sp>
      <p:sp>
        <p:nvSpPr>
          <p:cNvPr id="12" name="luke-duration-detail">
            <a:extLst xmlns:a="http://schemas.openxmlformats.org/drawingml/2006/main">
              <a:ext uri="{FF2B5EF4-FFF2-40B4-BE49-F238E27FC236}">
                <a16:creationId xmlns:a16="http://schemas.microsoft.com/office/drawing/2014/main" id="{24C84310-85C5-4EBD-BEB4-819FBD4C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244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결과 탐색과 화면 강조 동작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053EA-0BD7-45EB-AF42-73DAB355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57550"/>
            <a:ext cx="4000500" cy="28384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ceab7c990454e"/>
          <a:srcRect xmlns:a="http://schemas.openxmlformats.org/drawingml/2006/main" l="0" t="3" r="0" b="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3257550"/>
            <a:ext cx="4000500" cy="2838450"/>
          </a:xfrm>
          <a:prstGeom xmlns:a="http://schemas.openxmlformats.org/drawingml/2006/main" prst="roundRect">
            <a:avLst>
              <a:gd name="adj" fmla="val 5369"/>
            </a:avLst>
          </a:prstGeom>
        </p:spPr>
      </p:pic>
      <p:sp>
        <p:nvSpPr>
          <p:cNvPr id="15" name="luke-inspector-caption">
            <a:extLst xmlns:a="http://schemas.openxmlformats.org/drawingml/2006/main">
              <a:ext uri="{FF2B5EF4-FFF2-40B4-BE49-F238E27FC236}">
                <a16:creationId xmlns:a16="http://schemas.microsoft.com/office/drawing/2014/main" id="{71F76F24-E130-4D14-804F-33831FD5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22935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17985"/>
                </a:solidFill>
              </a:defRPr>
            </a:pPr>
            <a:r>
              <a:rPr sz="900" b="1">
                <a:solidFill>
                  <a:srgbClr val="717985"/>
                </a:solidFill>
              </a:rPr>
              <a:t>실제 Inspector 패널</a:t>
            </a:r>
          </a:p>
        </p:txBody>
      </p:sp>
    </p:spTree>
    <p:extLst>
      <p:ext uri="{BB962C8B-B14F-4D97-AF65-F5344CB8AC3E}">
        <p14:creationId xmlns:p14="http://schemas.microsoft.com/office/powerpoint/2010/main" val="6190305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E8D4B-1CD6-49BB-B20B-A41946F3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5E0E6D61-AB4C-4855-A42F-F403357D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검증 범위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802687-468E-431A-B07A-9446CDF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09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8876EA1-B19E-478C-8088-BE7E7415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검사 범위와 함께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결과를 해석합니다.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EAF51E7-3FCC-41A6-AF59-7D53E56E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측정값과 현재 UI의 노출 정보는 구분해 설명합니다.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E2DD7-C6C2-42FC-B37B-EA0A10A2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238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AA5CC-9AC2-4F00-AA92-A735EEF4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2D38"/>
                </a:solidFill>
              </a:defRPr>
            </a:pPr>
            <a:r>
              <a:rPr sz="1275" b="1">
                <a:solidFill>
                  <a:srgbClr val="252D38"/>
                </a:solidFill>
              </a:rPr>
              <a:t>검사 완료 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E1645-E2E1-44A9-9D6A-C444C774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333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실제로 검사한 DOM 요소 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76E24-19E3-4815-896A-D73476DF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33750"/>
            <a:ext cx="19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64DA"/>
                </a:solidFill>
              </a:defRPr>
            </a:pPr>
            <a:r>
              <a:rPr sz="1350" b="1">
                <a:solidFill>
                  <a:srgbClr val="1B64DA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63F0D-FB2E-4AEA-8BB6-E7801BC4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238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9F5EF-3873-4754-8A66-2982A9F0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2D38"/>
                </a:solidFill>
              </a:defRPr>
            </a:pPr>
            <a:r>
              <a:rPr sz="1275" b="1">
                <a:solidFill>
                  <a:srgbClr val="252D38"/>
                </a:solidFill>
              </a:rPr>
              <a:t>소요 시간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17ACE3-BB59-418A-9D12-705EEDC3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1480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검사 시작부터 완료까지의 내부 측정값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20520-9A87-4257-B180-FAA29C90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14800"/>
            <a:ext cx="19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64DA"/>
                </a:solidFill>
              </a:defRPr>
            </a:pPr>
            <a:r>
              <a:rPr sz="1350" b="1">
                <a:solidFill>
                  <a:srgbClr val="1B64DA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8BDB2-540C-45BB-8C91-F6AA66FE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23875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9525">
            <a:solidFill>
              <a:srgbClr val="D9E6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A6C27-A80F-4D47-9423-EAD2AB20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52D38"/>
                </a:solidFill>
              </a:defRPr>
            </a:pPr>
            <a:r>
              <a:rPr sz="1275" b="1">
                <a:solidFill>
                  <a:srgbClr val="252D38"/>
                </a:solidFill>
              </a:rPr>
              <a:t>현재 UI 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C0CA8-24C2-400A-A07A-7104605F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958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툴바: 검사·제외 요소 수 / 시간·부분검사: 상시 미표기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3C7A3-0B26-4B49-B291-9804A2B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19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64DA"/>
                </a:solidFill>
              </a:defRPr>
            </a:pPr>
            <a:r>
              <a:rPr sz="1350" b="1">
                <a:solidFill>
                  <a:srgbClr val="1B64DA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7A4745-9D8C-4946-9BD9-A391C8B4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4095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52D38"/>
                </a:solidFill>
              </a:defRPr>
            </a:pPr>
            <a:r>
              <a:rPr sz="2100" b="1">
                <a:solidFill>
                  <a:srgbClr val="252D38"/>
                </a:solidFill>
              </a:rPr>
              <a:t>검증에서 얻은 성능 수치와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52D38"/>
                </a:solidFill>
              </a:defRPr>
            </a:pPr>
            <a:r>
              <a:rPr sz="2100" b="1">
                <a:solidFill>
                  <a:srgbClr val="252D38"/>
                </a:solidFill>
              </a:rPr>
              <a:t>사용자가 실제 화면에서 보는 정보를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252D38"/>
                </a:solidFill>
              </a:defRPr>
            </a:pPr>
            <a:r>
              <a:rPr sz="2100" b="1">
                <a:solidFill>
                  <a:srgbClr val="252D38"/>
                </a:solidFill>
              </a:rPr>
              <a:t>같은 것으로 표현하지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976429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D0F550-E528-4E5C-BF28-F0D07EB6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9C3DB8F-5D1F-46F3-B725-BA4707D1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창의성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BC6851A-861F-4C51-B9FB-D43B513C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10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1C82CB-7A14-4E95-8843-FA0366E3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타사는 변화를 찾고,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Inspector는 위반을 설명합니다.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4188041-7C66-4068-B345-C3F9D0A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비교 대상의 핵심 사용 사례와 FDS Inspector의 검사 결과 연결 방식을 같은 기준으로 봤습니다.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4E33E-CD77-405E-B436-906B895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58637-320D-45C4-95F8-5F96CAA5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01  시각 회귀 테스트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BE4B7-60F7-4B89-9AD8-DC8554E6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52D38"/>
                </a:solidFill>
              </a:defRPr>
            </a:pPr>
            <a:r>
              <a:rPr sz="1425" b="1">
                <a:solidFill>
                  <a:srgbClr val="252D38"/>
                </a:solidFill>
              </a:rPr>
              <a:t>Applitools Eyes · Percy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0C57A-13F2-4FD4-AE98-C1F06C47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승인된 기준 화면과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현재 화면의 차이를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시각적으로 검증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3888F-4EE6-4826-852F-EB6628E0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3375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74D3D-47C1-4D36-B28B-D1F76D14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02  컴포넌트 테스트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48DB42-DC70-422D-A13A-00F9588F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481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2D38"/>
                </a:solidFill>
              </a:defRPr>
            </a:pPr>
            <a:r>
              <a:rPr sz="1650" b="1">
                <a:solidFill>
                  <a:srgbClr val="252D38"/>
                </a:solidFill>
              </a:rPr>
              <a:t>Chromatic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DD415-7EE3-4207-922F-92281C44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053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Storybook 스토리 단위로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컴포넌트 상태를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시각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EE66C-5A69-439C-9BA9-9A9491415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3143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9525">
            <a:solidFill>
              <a:srgbClr val="D9E6F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ED9CE-D17F-4039-9D13-2C421FD3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52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03  FDS 준수 검사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C91F3-17D7-4A25-A31D-01F993FD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2647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52D38"/>
                </a:solidFill>
              </a:defRPr>
            </a:pPr>
            <a:r>
              <a:rPr sz="1650" b="1">
                <a:solidFill>
                  <a:srgbClr val="252D38"/>
                </a:solidFill>
              </a:rPr>
              <a:t>FDS Inspector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2705C5-A1E3-4B27-82CB-219F0519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FDS 규칙 위반을 실제 DOM,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위반 사유·대체 토큰으로</a:t>
            </a:r>
          </a:p>
          <a:p xmlns:a="http://schemas.openxmlformats.org/drawingml/2006/main">
            <a:pPr>
              <a:lnSpc>
                <a:spcPct val="132000"/>
              </a:lnSpc>
              <a:buNone/>
              <a:defRPr sz="1125">
                <a:solidFill>
                  <a:srgbClr val="717985"/>
                </a:solidFill>
              </a:defRPr>
            </a:pPr>
            <a:r>
              <a:rPr sz="1125">
                <a:solidFill>
                  <a:srgbClr val="717985"/>
                </a:solidFill>
              </a:rPr>
              <a:t>연결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E5793B-8EC6-4881-BC0E-3B4712B1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64DA"/>
                </a:solidFill>
              </a:defRPr>
            </a:pPr>
            <a:r>
              <a:rPr sz="1425" b="1">
                <a:solidFill>
                  <a:srgbClr val="1B64DA"/>
                </a:solidFill>
              </a:rPr>
              <a:t>차별점  ·  화면 차이 발견을 넘어, 실제 DOM 위치·위반 사유·대체 토큰 후보까지 수정 맥락을 제공합니다.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F5A5F-B44E-4E1B-B03A-A83FB45E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09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※ 각 제품의 공식 문서상 핵심 사용 사례 기준 비교이며, 개별 제품의 모든 기능을 포괄하지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393470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78B3BC-4652-4464-89B1-D035DAF9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108307BA-36ED-4BFD-B25A-60DDA9E4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가치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8F37B3-3645-4C75-9014-19C51985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11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C01145-C1DD-4EBF-84A4-8D0B440C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반복 검수의 시간을 줄이고,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600" b="1">
                <a:solidFill>
                  <a:srgbClr val="252D38"/>
                </a:solidFill>
              </a:defRPr>
            </a:pPr>
            <a:r>
              <a:rPr sz="3600" b="1">
                <a:solidFill>
                  <a:srgbClr val="252D38"/>
                </a:solidFill>
              </a:rPr>
              <a:t>같은 기준을 넓게 적용합니다.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3A97745-BEBB-4726-A4E1-D1407F55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619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00">
                <a:solidFill>
                  <a:srgbClr val="717985"/>
                </a:solidFill>
              </a:defRPr>
            </a:pPr>
            <a:r>
              <a:rPr sz="1500">
                <a:solidFill>
                  <a:srgbClr val="717985"/>
                </a:solidFill>
              </a:rPr>
              <a:t>FDS Inspector의 가치는 Benefit, Cost, Scalability 세 축으로 설명할 수 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083C4-450B-4127-9032-F662F842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64DA"/>
                </a:solidFill>
              </a:defRPr>
            </a:pPr>
            <a:r>
              <a:rPr sz="1800" b="1">
                <a:solidFill>
                  <a:srgbClr val="1B64DA"/>
                </a:solidFill>
              </a:rPr>
              <a:t>Benefit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C15F8-4334-4808-874B-4D46E20A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95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64DA"/>
                </a:solidFill>
              </a:defRPr>
            </a:pPr>
            <a:r>
              <a:rPr sz="1050" b="1">
                <a:solidFill>
                  <a:srgbClr val="1B64DA"/>
                </a:solidFill>
              </a:rPr>
              <a:t>개선 효과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2A7444-F72F-4786-B2A4-74355862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52825"/>
            <a:ext cx="813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3B73-8FA4-4350-897F-1668DE02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14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 b="1">
                <a:solidFill>
                  <a:srgbClr val="252D38"/>
                </a:solidFill>
              </a:defRPr>
            </a:pPr>
            <a:r>
              <a:rPr sz="1350" b="1">
                <a:solidFill>
                  <a:srgbClr val="252D38"/>
                </a:solidFill>
              </a:rPr>
              <a:t>검수 시간 절감 · 위반 누락 감소 · FDS 기준 일관성 · 개발·디자인 협업 확인 시간 단축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8494D-2BBC-4D95-A645-E57A874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7F070-0D83-4C22-B8E6-77A3DF79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64DA"/>
                </a:solidFill>
              </a:defRPr>
            </a:pPr>
            <a:r>
              <a:rPr sz="1800" b="1">
                <a:solidFill>
                  <a:srgbClr val="1B64DA"/>
                </a:solidFill>
              </a:rPr>
              <a:t>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78BC1-19D1-4116-8BDF-3F90136E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672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B64DA"/>
                </a:solidFill>
              </a:defRPr>
            </a:pPr>
            <a:r>
              <a:rPr sz="1050" b="1">
                <a:solidFill>
                  <a:srgbClr val="1B64DA"/>
                </a:solidFill>
              </a:rPr>
              <a:t>전환 비용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51CBB1-5E7C-49ED-91A2-1851220B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524375"/>
            <a:ext cx="813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86337-3664-4D94-BC3D-DEC37246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863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275" b="1">
                <a:solidFill>
                  <a:srgbClr val="252D38"/>
                </a:solidFill>
              </a:defRPr>
            </a:pPr>
            <a:r>
              <a:rPr sz="1275" b="1">
                <a:solidFill>
                  <a:srgbClr val="252D38"/>
                </a:solidFill>
              </a:rPr>
              <a:t>적용 전 FDS 규칙 정리·초기 검증,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275" b="1">
                <a:solidFill>
                  <a:srgbClr val="252D38"/>
                </a:solidFill>
              </a:defRPr>
            </a:pPr>
            <a:r>
              <a:rPr sz="1275" b="1">
                <a:solidFill>
                  <a:srgbClr val="252D38"/>
                </a:solidFill>
              </a:rPr>
              <a:t>확장 프로그램 배포·사용 방법 안내가 필요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46FB0-5FE1-4BFC-B83A-E59589A7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13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DE3377-5C7D-4298-B669-C47EA18D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8E2D9B"/>
                </a:solidFill>
              </a:defRPr>
            </a:pPr>
            <a:r>
              <a:rPr sz="1875" b="1">
                <a:solidFill>
                  <a:srgbClr val="8E2D9B"/>
                </a:solidFill>
              </a:rPr>
              <a:t>Scalability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F90ADB-A8C2-4844-B072-AC27D4C6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57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8E2D9B"/>
                </a:solidFill>
              </a:defRPr>
            </a:pPr>
            <a:r>
              <a:rPr sz="1050" b="1">
                <a:solidFill>
                  <a:srgbClr val="8E2D9B"/>
                </a:solidFill>
              </a:rPr>
              <a:t>창의성·확장성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70A4DA-F822-47F6-85D1-BAC0AFDF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14975"/>
            <a:ext cx="813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6899E-E3DF-4478-A13C-A3F463C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769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 b="1">
                <a:solidFill>
                  <a:srgbClr val="252D38"/>
                </a:solidFill>
              </a:defRPr>
            </a:pPr>
            <a:r>
              <a:rPr sz="1350" b="1">
                <a:solidFill>
                  <a:srgbClr val="252D38"/>
                </a:solidFill>
              </a:rPr>
              <a:t>토큰·규칙 중심 구조라 동일 FDS 화면·팀에 재사용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 b="1">
                <a:solidFill>
                  <a:srgbClr val="252D38"/>
                </a:solidFill>
              </a:defRPr>
            </a:pPr>
            <a:r>
              <a:rPr sz="1350" b="1">
                <a:solidFill>
                  <a:srgbClr val="252D38"/>
                </a:solidFill>
              </a:rPr>
              <a:t>새 기준도 기존 검사 흐름에 지속 반영</a:t>
            </a:r>
          </a:p>
        </p:txBody>
      </p:sp>
    </p:spTree>
    <p:extLst>
      <p:ext uri="{BB962C8B-B14F-4D97-AF65-F5344CB8AC3E}">
        <p14:creationId xmlns:p14="http://schemas.microsoft.com/office/powerpoint/2010/main" val="5319475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66F6FA-AA30-4D11-831B-589286A1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B91880C-C964-4DA8-B935-7D4655D3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가치 산정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4E09DB-3D90-456E-A993-6956E65E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343650"/>
            <a:ext cx="2171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FDS Inspector  ·  12 / 13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F963D5-2904-48F5-A879-D8AB1FE1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239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3300" b="1">
                <a:solidFill>
                  <a:srgbClr val="252D38"/>
                </a:solidFill>
              </a:defRPr>
            </a:pPr>
            <a:r>
              <a:rPr sz="3300" b="1">
                <a:solidFill>
                  <a:srgbClr val="252D38"/>
                </a:solidFill>
              </a:rPr>
              <a:t>절감한 시간에</a:t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3300" b="1">
                <a:solidFill>
                  <a:srgbClr val="252D38"/>
                </a:solidFill>
              </a:defRPr>
            </a:pPr>
            <a:r>
              <a:rPr sz="3300" b="1">
                <a:solidFill>
                  <a:srgbClr val="252D38"/>
                </a:solidFill>
              </a:rPr>
              <a:t>3만원을 곱해 계산합니다.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3B3D544-9BE9-471C-A606-6AED7418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  <a:defRPr sz="1350">
                <a:solidFill>
                  <a:srgbClr val="717985"/>
                </a:solidFill>
              </a:defRPr>
            </a:pPr>
            <a:r>
              <a:rPr sz="1350">
                <a:solidFill>
                  <a:srgbClr val="717985"/>
                </a:solidFill>
              </a:rPr>
              <a:t>개발자와 디자이너의 검수 1시간을 약 3만원으로 보는, 쉽고 보수적인 추정입니다.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40B0A-780E-4FE9-B31F-8673315D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76250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4F7FD"/>
          </a:solidFill>
          <a:ln xmlns:a="http://schemas.openxmlformats.org/drawingml/2006/main" w="9525">
            <a:solidFill>
              <a:srgbClr val="D9E6F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850A8-F350-44ED-B868-FDB0CD8B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4DA"/>
                </a:solidFill>
              </a:defRPr>
            </a:pPr>
            <a:r>
              <a:rPr sz="1200" b="1">
                <a:solidFill>
                  <a:srgbClr val="1B64DA"/>
                </a:solidFill>
              </a:rPr>
              <a:t>계산에 쓰는 기준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6D71E3-0343-4A2C-9D26-11F7D757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862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D38"/>
                </a:solidFill>
              </a:defRPr>
            </a:pPr>
            <a:r>
              <a:rPr sz="2100" b="1">
                <a:solidFill>
                  <a:srgbClr val="252D38"/>
                </a:solidFill>
              </a:rPr>
              <a:t>검수 1시간  =  3만원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1EAA0-F7A1-4EBB-ADF0-AE1A7F20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500" b="1">
                <a:solidFill>
                  <a:srgbClr val="252D38"/>
                </a:solidFill>
              </a:defRPr>
            </a:pPr>
            <a:r>
              <a:rPr sz="1500" b="1">
                <a:solidFill>
                  <a:srgbClr val="252D38"/>
                </a:solidFill>
              </a:rPr>
              <a:t>직무를 따로 나누지 않고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500" b="1">
                <a:solidFill>
                  <a:srgbClr val="252D38"/>
                </a:solidFill>
              </a:defRPr>
            </a:pPr>
            <a:r>
              <a:rPr sz="1500" b="1">
                <a:solidFill>
                  <a:srgbClr val="252D38"/>
                </a:solidFill>
              </a:rPr>
              <a:t>개발·디자인에 같은 기준을 적용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E4A8B8-5571-474F-8F8F-C7507BCE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49339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5B2C5-4922-4E32-9EA1-7D14407D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4DA"/>
                </a:solidFill>
              </a:defRPr>
            </a:pPr>
            <a:r>
              <a:rPr sz="1200" b="1">
                <a:solidFill>
                  <a:srgbClr val="1B64DA"/>
                </a:solidFill>
              </a:rPr>
              <a:t>계산 방법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649E8-1343-44FA-AB9F-29A5A2A8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862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52D38"/>
                </a:solidFill>
              </a:defRPr>
            </a:pPr>
            <a:r>
              <a:rPr sz="1875" b="1">
                <a:solidFill>
                  <a:srgbClr val="252D38"/>
                </a:solidFill>
              </a:rPr>
              <a:t>월 절감시간 × 12개월 × 3만원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7F916-DD70-4EC7-9D59-A495267B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196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lnSpc>
                <a:spcPct val="128000"/>
              </a:lnSpc>
              <a:buNone/>
              <a:defRPr sz="1425" b="1">
                <a:solidFill>
                  <a:srgbClr val="717985"/>
                </a:solidFill>
              </a:defRPr>
            </a:pPr>
            <a:r>
              <a:rPr sz="1425" b="1">
                <a:solidFill>
                  <a:srgbClr val="717985"/>
                </a:solidFill>
              </a:rPr>
              <a:t>예: 매달 20시간 절감 시</a:t>
            </a:r>
          </a:p>
          <a:p xmlns:a="http://schemas.openxmlformats.org/drawingml/2006/main">
            <a:pPr>
              <a:lnSpc>
                <a:spcPct val="128000"/>
              </a:lnSpc>
              <a:buNone/>
              <a:defRPr sz="1425" b="1">
                <a:solidFill>
                  <a:srgbClr val="717985"/>
                </a:solidFill>
              </a:defRPr>
            </a:pPr>
            <a:r>
              <a:rPr sz="1425" b="1">
                <a:solidFill>
                  <a:srgbClr val="717985"/>
                </a:solidFill>
              </a:rPr>
              <a:t>20 × 12 × 3만원  =  연 720만원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6EDBE-1FC3-4235-90BB-0B965031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252D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963B4-4800-45A7-96D5-06A1F1FF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실제 검수 시간을 기록하면, 같은 공식으로 연간 절감 가치를 바로 다시 계산할 수 있습니다.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918E8F-E486-4771-B4A0-60CAEA8D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57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5BBC2"/>
                </a:solidFill>
              </a:defRPr>
            </a:pPr>
            <a:r>
              <a:rPr sz="825">
                <a:solidFill>
                  <a:srgbClr val="B5BBC2"/>
                </a:solidFill>
              </a:rPr>
              <a:t>※ 시간당 3만원은 발표용 가정값입니다. 실제 내부 원가·검수 횟수·절감시간이 확정되면 해당 값으로 교체합니다.</a:t>
            </a:r>
          </a:p>
        </p:txBody>
      </p:sp>
    </p:spTree>
    <p:extLst>
      <p:ext uri="{BB962C8B-B14F-4D97-AF65-F5344CB8AC3E}">
        <p14:creationId xmlns:p14="http://schemas.microsoft.com/office/powerpoint/2010/main" val="265915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39A44-8FA9-413C-8162-6DB33BB1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747B1DB-D957-482C-BF08-0F908629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477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B64DA"/>
                </a:solidFill>
              </a:defRPr>
            </a:pPr>
            <a:r>
              <a:rPr sz="900" b="1">
                <a:solidFill>
                  <a:srgbClr val="1B64DA"/>
                </a:solidFill>
              </a:rPr>
              <a:t>FDS Inspector</a:t>
            </a:r>
          </a:p>
        </p:txBody>
      </p:sp>
      <p:sp>
        <p:nvSpPr>
          <p:cNvPr id="3" name="closing">
            <a:extLst xmlns:a="http://schemas.openxmlformats.org/drawingml/2006/main">
              <a:ext uri="{FF2B5EF4-FFF2-40B4-BE49-F238E27FC236}">
                <a16:creationId xmlns:a16="http://schemas.microsoft.com/office/drawing/2014/main" id="{E3340B49-DBD2-442B-BE42-E28B3206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4650" b="1">
                <a:solidFill>
                  <a:srgbClr val="252D38"/>
                </a:solidFill>
              </a:defRPr>
            </a:pPr>
            <a:r>
              <a:rPr sz="4650" b="1">
                <a:solidFill>
                  <a:srgbClr val="252D38"/>
                </a:solidFill>
              </a:rPr>
              <a:t>사람은 판단하고,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4650" b="1">
                <a:solidFill>
                  <a:srgbClr val="252D38"/>
                </a:solidFill>
              </a:defRPr>
            </a:pPr>
            <a:r>
              <a:rPr sz="4650" b="1">
                <a:solidFill>
                  <a:srgbClr val="252D38"/>
                </a:solidFill>
              </a:rPr>
              <a:t>Inspector는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4650" b="1">
                <a:solidFill>
                  <a:srgbClr val="252D38"/>
                </a:solidFill>
              </a:defRPr>
            </a:pPr>
            <a:r>
              <a:rPr sz="4650" b="1">
                <a:solidFill>
                  <a:srgbClr val="252D38"/>
                </a:solidFill>
              </a:rPr>
              <a:t>찾고 설명합니다.</a:t>
            </a:r>
          </a:p>
        </p:txBody>
      </p:sp>
      <p:sp>
        <p:nvSpPr>
          <p:cNvPr id="4" name="closing-sub">
            <a:extLst xmlns:a="http://schemas.openxmlformats.org/drawingml/2006/main">
              <a:ext uri="{FF2B5EF4-FFF2-40B4-BE49-F238E27FC236}">
                <a16:creationId xmlns:a16="http://schemas.microsoft.com/office/drawing/2014/main" id="{29FC0D17-F905-49A1-A6A0-5E1AF352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52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1575">
                <a:solidFill>
                  <a:srgbClr val="717985"/>
                </a:solidFill>
              </a:defRPr>
            </a:pPr>
            <a:r>
              <a:rPr sz="1575">
                <a:solidFill>
                  <a:srgbClr val="717985"/>
                </a:solidFill>
              </a:rPr>
              <a:t>FDS 기준 비교부터 위반 위치 확인, 수정 근거 검토까지.</a:t>
            </a:r>
          </a:p>
          <a:p xmlns:a="http://schemas.openxmlformats.org/drawingml/2006/main">
            <a:pPr>
              <a:lnSpc>
                <a:spcPct val="142000"/>
              </a:lnSpc>
              <a:buNone/>
              <a:defRPr sz="1575">
                <a:solidFill>
                  <a:srgbClr val="717985"/>
                </a:solidFill>
              </a:defRPr>
            </a:pPr>
            <a:r>
              <a:rPr sz="1575">
                <a:solidFill>
                  <a:srgbClr val="717985"/>
                </a:solidFill>
              </a:rPr>
              <a:t>디자인 시스템 검수의 반복 흐름을 브라우저 안에서 연결합니다.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7AFEF-5F93-47C7-97E9-E9D9B7AB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81200"/>
            <a:ext cx="38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2A477-EB07-446F-A50E-A2D5FD0B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621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D38"/>
                </a:solidFill>
              </a:defRPr>
            </a:pPr>
            <a:r>
              <a:rPr sz="2325" b="1">
                <a:solidFill>
                  <a:srgbClr val="252D38"/>
                </a:solidFill>
              </a:rPr>
              <a:t>찾기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050F7-DD0B-4426-8600-768FDB98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D38"/>
                </a:solidFill>
              </a:defRPr>
            </a:pPr>
            <a:r>
              <a:rPr sz="2325" b="1">
                <a:solidFill>
                  <a:srgbClr val="252D38"/>
                </a:solidFill>
              </a:rPr>
              <a:t>보여주기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E50BF-A016-44F0-8E7A-C2A00CBF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52D38"/>
                </a:solidFill>
              </a:defRPr>
            </a:pPr>
            <a:r>
              <a:rPr sz="2325" b="1">
                <a:solidFill>
                  <a:srgbClr val="252D38"/>
                </a:solidFill>
              </a:rPr>
              <a:t>설명하기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E2A99-1F30-4D6D-95DB-9473BD14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5BBC2"/>
                </a:solidFill>
              </a:defRPr>
            </a:pPr>
            <a:r>
              <a:rPr sz="900">
                <a:solidFill>
                  <a:srgbClr val="B5BBC2"/>
                </a:solidFill>
              </a:rPr>
              <a:t>FDS Inspector</a:t>
            </a:r>
          </a:p>
        </p:txBody>
      </p:sp>
    </p:spTree>
    <p:extLst>
      <p:ext uri="{BB962C8B-B14F-4D97-AF65-F5344CB8AC3E}">
        <p14:creationId xmlns:p14="http://schemas.microsoft.com/office/powerpoint/2010/main" val="1296290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2026-07-24T03:41:53.6830000Z</dcterms:created>
  <dcterms:modified xsi:type="dcterms:W3CDTF">2026-07-24T03:41:53.6830000Z</dcterms:modified>
</coreProperties>
</file>